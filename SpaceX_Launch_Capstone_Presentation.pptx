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800">
                <a:solidFill>
                  <a:srgbClr val="0F62FE"/>
                </a:solidFill>
              </a:defRPr>
            </a:pPr>
            <a:r>
              <a:t>Applied Data Science Capstone</a:t>
            </a:r>
          </a:p>
          <a:p>
            <a:r>
              <a:t>SpaceX Launch Landing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400"/>
            </a:pPr>
            <a:r>
              <a:t>Predicting Falcon 9 First Stage Landing Success &amp; Cost Optimization</a:t>
            </a:r>
          </a:p>
          <a:p>
            <a:r>
              <a:t>GitHub: github.com/username/spacex-launch-prediction</a:t>
            </a:r>
          </a:p>
          <a:p>
            <a:r>
              <a:t>Date: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0F62FE"/>
                </a:solidFill>
              </a:defRPr>
            </a:pPr>
            <a: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1300">
                <a:solidFill>
                  <a:srgbClr val="222222"/>
                </a:solidFill>
              </a:defRPr>
            </a:pPr>
            <a:r>
              <a:t>• Executive Summary</a:t>
            </a:r>
          </a:p>
          <a:p>
            <a:pPr>
              <a:spcAft>
                <a:spcPts val="800"/>
              </a:spcAft>
              <a:defRPr sz="1300">
                <a:solidFill>
                  <a:srgbClr val="222222"/>
                </a:solidFill>
              </a:defRPr>
            </a:pPr>
            <a:r>
              <a:t>• Section 1: Methodology</a:t>
            </a:r>
          </a:p>
          <a:p>
            <a:pPr>
              <a:spcAft>
                <a:spcPts val="800"/>
              </a:spcAft>
              <a:defRPr sz="1300">
                <a:solidFill>
                  <a:srgbClr val="222222"/>
                </a:solidFill>
              </a:defRPr>
            </a:pPr>
            <a:r>
              <a:t>• Section 2: Exploratory Data Analysis Results (Visual Analytics &amp; SQL)</a:t>
            </a:r>
          </a:p>
          <a:p>
            <a:pPr>
              <a:spcAft>
                <a:spcPts val="800"/>
              </a:spcAft>
              <a:defRPr sz="1300">
                <a:solidFill>
                  <a:srgbClr val="222222"/>
                </a:solidFill>
              </a:defRPr>
            </a:pPr>
            <a:r>
              <a:t>• Section 3: Interactive Analytics Demo (Folium Map)</a:t>
            </a:r>
          </a:p>
          <a:p>
            <a:pPr>
              <a:spcAft>
                <a:spcPts val="800"/>
              </a:spcAft>
              <a:defRPr sz="1300">
                <a:solidFill>
                  <a:srgbClr val="222222"/>
                </a:solidFill>
              </a:defRPr>
            </a:pPr>
            <a:r>
              <a:t>• Section 4: Plotly Dash Dashboard Results</a:t>
            </a:r>
          </a:p>
          <a:p>
            <a:pPr>
              <a:spcAft>
                <a:spcPts val="800"/>
              </a:spcAft>
              <a:defRPr sz="1300">
                <a:solidFill>
                  <a:srgbClr val="222222"/>
                </a:solidFill>
              </a:defRPr>
            </a:pPr>
            <a:r>
              <a:t>• Section 5: Predictive Analysis Results (ML Classification)</a:t>
            </a:r>
          </a:p>
          <a:p>
            <a:pPr>
              <a:spcAft>
                <a:spcPts val="800"/>
              </a:spcAft>
              <a:defRPr sz="1300">
                <a:solidFill>
                  <a:srgbClr val="222222"/>
                </a:solidFill>
              </a:defRPr>
            </a:pPr>
            <a:r>
              <a:t>• Conclusion &amp; Appendix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0F62FE"/>
                </a:solidFill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1300">
                <a:solidFill>
                  <a:srgbClr val="222222"/>
                </a:solidFill>
              </a:defRPr>
            </a:pPr>
            <a:r>
              <a:t>• Summary of Methodologies: Collected API/Scraped data, wrangled binary targets, executed SQL queries, built Folium proximity maps, interactive Dash apps, and GridSearchCV ML models.</a:t>
            </a:r>
          </a:p>
          <a:p>
            <a:pPr>
              <a:spcAft>
                <a:spcPts val="800"/>
              </a:spcAft>
              <a:defRPr sz="1300">
                <a:solidFill>
                  <a:srgbClr val="222222"/>
                </a:solidFill>
              </a:defRPr>
            </a:pPr>
            <a:r>
              <a:t>• Summary of All Results: Achieved 83.3% test accuracy across ML models. Identified KSC LC-39A as the highest performing site (77%) and $2,000–$5,500 kg as the optimal payload window.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0F62FE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1300">
                <a:solidFill>
                  <a:srgbClr val="222222"/>
                </a:solidFill>
              </a:defRPr>
            </a:pPr>
            <a:r>
              <a:t>• Project Background: SpaceX reuses Falcon 9 first stages to drop launch costs to $62M (vs. $165M+ for competitors).</a:t>
            </a:r>
          </a:p>
          <a:p>
            <a:pPr>
              <a:spcAft>
                <a:spcPts val="800"/>
              </a:spcAft>
              <a:defRPr sz="1300">
                <a:solidFill>
                  <a:srgbClr val="222222"/>
                </a:solidFill>
              </a:defRPr>
            </a:pPr>
            <a:r>
              <a:t>• Core Problems to Answer:</a:t>
            </a:r>
          </a:p>
          <a:p>
            <a:pPr>
              <a:spcAft>
                <a:spcPts val="800"/>
              </a:spcAft>
              <a:defRPr sz="1300">
                <a:solidFill>
                  <a:srgbClr val="222222"/>
                </a:solidFill>
              </a:defRPr>
            </a:pPr>
            <a:r>
              <a:t>  1. How do launch sites, orbits, and payload mass affect landing success?</a:t>
            </a:r>
          </a:p>
          <a:p>
            <a:pPr>
              <a:spcAft>
                <a:spcPts val="800"/>
              </a:spcAft>
              <a:defRPr sz="1300">
                <a:solidFill>
                  <a:srgbClr val="222222"/>
                </a:solidFill>
              </a:defRPr>
            </a:pPr>
            <a:r>
              <a:t>  2. Can machine learning accurately predict whether the first stage will land successfully to optimize commercial bidding?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F62FE"/>
                </a:solidFill>
              </a:defRPr>
            </a:pPr>
            <a:r>
              <a:t>Section 1: Methodology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0F62FE"/>
                </a:solidFill>
              </a:defRPr>
            </a:pPr>
            <a:r>
              <a:t>Executive Summary -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1300">
                <a:solidFill>
                  <a:srgbClr val="222222"/>
                </a:solidFill>
              </a:defRPr>
            </a:pPr>
            <a:r>
              <a:t>• Data Collection: Queried SpaceX REST API &amp; scraped Wikipedia tables using BeautifulSoup.</a:t>
            </a:r>
          </a:p>
          <a:p>
            <a:pPr>
              <a:spcAft>
                <a:spcPts val="800"/>
              </a:spcAft>
              <a:defRPr sz="1300">
                <a:solidFill>
                  <a:srgbClr val="222222"/>
                </a:solidFill>
              </a:defRPr>
            </a:pPr>
            <a:r>
              <a:t>• Data Wrangling: Mean imputation for missing payloads, One-Hot Encoding, and Binary 'Class' target setup.</a:t>
            </a:r>
          </a:p>
          <a:p>
            <a:pPr>
              <a:spcAft>
                <a:spcPts val="800"/>
              </a:spcAft>
              <a:defRPr sz="1300">
                <a:solidFill>
                  <a:srgbClr val="222222"/>
                </a:solidFill>
              </a:defRPr>
            </a:pPr>
            <a:r>
              <a:t>• EDA &amp; SQL: Seaborn visualizations &amp; SQLite query execution for site/payload correlations.</a:t>
            </a:r>
          </a:p>
          <a:p>
            <a:pPr>
              <a:spcAft>
                <a:spcPts val="800"/>
              </a:spcAft>
              <a:defRPr sz="1300">
                <a:solidFill>
                  <a:srgbClr val="222222"/>
                </a:solidFill>
              </a:defRPr>
            </a:pPr>
            <a:r>
              <a:t>• Interactive Analytics: Folium spatial clustering &amp; Plotly Dash real-time filtering.</a:t>
            </a:r>
          </a:p>
          <a:p>
            <a:pPr>
              <a:spcAft>
                <a:spcPts val="800"/>
              </a:spcAft>
              <a:defRPr sz="1300">
                <a:solidFill>
                  <a:srgbClr val="222222"/>
                </a:solidFill>
              </a:defRPr>
            </a:pPr>
            <a:r>
              <a:t>• Predictive Analytics: Standardized features, trained Decision Tree, SVM, KNN, and Logistic Regression models.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0F62FE"/>
                </a:solidFill>
              </a:defRPr>
            </a:pPr>
            <a:r>
              <a:t>Data Collection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1300">
                <a:solidFill>
                  <a:srgbClr val="222222"/>
                </a:solidFill>
              </a:defRPr>
            </a:pPr>
            <a:r>
              <a:t>• Structured approach from raw data collection to machine learning classification.</a:t>
            </a:r>
          </a:p>
          <a:p>
            <a:pPr>
              <a:spcAft>
                <a:spcPts val="800"/>
              </a:spcAft>
              <a:defRPr sz="1300">
                <a:solidFill>
                  <a:srgbClr val="222222"/>
                </a:solidFill>
              </a:defRPr>
            </a:pPr>
            <a:r>
              <a:t>• Queried official SpaceX REST API to retrieve flight parameters, payload masses, launch sites, and core landing outcomes.</a:t>
            </a:r>
          </a:p>
          <a:p>
            <a:pPr>
              <a:spcAft>
                <a:spcPts val="800"/>
              </a:spcAft>
              <a:defRPr sz="1300">
                <a:solidFill>
                  <a:srgbClr val="222222"/>
                </a:solidFill>
              </a:defRPr>
            </a:pPr>
            <a:r>
              <a:t>• Scraped historical launch comparisons using BeautifulSoup from HTML tables.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0F62FE"/>
                </a:solidFill>
              </a:defRPr>
            </a:pPr>
            <a:r>
              <a:t>Data Collection – SpaceX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1300">
                <a:solidFill>
                  <a:srgbClr val="222222"/>
                </a:solidFill>
              </a:defRPr>
            </a:pPr>
            <a:r>
              <a:t>• Extracted flight numbers, launch dates, booster versions, payload masses, launch sites, and core landing outcomes via REST endpoints.</a:t>
            </a:r>
          </a:p>
          <a:p>
            <a:pPr>
              <a:spcAft>
                <a:spcPts val="800"/>
              </a:spcAft>
              <a:defRPr sz="1300">
                <a:solidFill>
                  <a:srgbClr val="222222"/>
                </a:solidFill>
              </a:defRPr>
            </a:pPr>
            <a:r>
              <a:t>• Processed JSON payloads into structured DataFrames.</a:t>
            </a:r>
          </a:p>
          <a:p>
            <a:br/>
            <a:pPr>
              <a:defRPr sz="1200" b="1">
                <a:solidFill>
                  <a:srgbClr val="0F62FE"/>
                </a:solidFill>
              </a:defRPr>
            </a:pPr>
            <a:r>
              <a:t>🔗 GitHub Notebook URL: github.com/username/spacex-launch-prediction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0F62FE"/>
                </a:solidFill>
              </a:defRPr>
            </a:pPr>
            <a:r>
              <a:t>Data Collection - Scraping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1300">
                <a:solidFill>
                  <a:srgbClr val="222222"/>
                </a:solidFill>
              </a:defRPr>
            </a:pPr>
            <a:r>
              <a:t>• Parsed Wikipedia HTML tables using BeautifulSoup (bs4).</a:t>
            </a:r>
          </a:p>
          <a:p>
            <a:pPr>
              <a:spcAft>
                <a:spcPts val="800"/>
              </a:spcAft>
              <a:defRPr sz="1300">
                <a:solidFill>
                  <a:srgbClr val="222222"/>
                </a:solidFill>
              </a:defRPr>
            </a:pPr>
            <a:r>
              <a:t>• Cleaned dates, flight numbers, payload weights, and historical landing outcomes to complement API data.</a:t>
            </a:r>
          </a:p>
          <a:p>
            <a:br/>
            <a:pPr>
              <a:defRPr sz="1200" b="1">
                <a:solidFill>
                  <a:srgbClr val="0F62FE"/>
                </a:solidFill>
              </a:defRPr>
            </a:pPr>
            <a:r>
              <a:t>🔗 GitHub Notebook URL: github.com/username/spacex-launch-prediction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0F62FE"/>
                </a:solidFill>
              </a:defRPr>
            </a:pPr>
            <a:r>
              <a:t>Data Wrangling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1300">
                <a:solidFill>
                  <a:srgbClr val="222222"/>
                </a:solidFill>
              </a:defRPr>
            </a:pPr>
            <a:r>
              <a:t>• Handled missing values in payload mass using mean imputation.</a:t>
            </a:r>
          </a:p>
          <a:p>
            <a:pPr>
              <a:spcAft>
                <a:spcPts val="800"/>
              </a:spcAft>
              <a:defRPr sz="1300">
                <a:solidFill>
                  <a:srgbClr val="222222"/>
                </a:solidFill>
              </a:defRPr>
            </a:pPr>
            <a:r>
              <a:t>• Created a binary target variable Class (1 for successful landing, 0 for failure).</a:t>
            </a:r>
          </a:p>
          <a:p>
            <a:pPr>
              <a:spcAft>
                <a:spcPts val="800"/>
              </a:spcAft>
              <a:defRPr sz="1300">
                <a:solidFill>
                  <a:srgbClr val="222222"/>
                </a:solidFill>
              </a:defRPr>
            </a:pPr>
            <a:r>
              <a:t>• Converted categorical features (Orbit, LaunchSite) using One-Hot Encoding.</a:t>
            </a:r>
          </a:p>
          <a:p>
            <a:br/>
            <a:pPr>
              <a:defRPr sz="1200" b="1">
                <a:solidFill>
                  <a:srgbClr val="0F62FE"/>
                </a:solidFill>
              </a:defRPr>
            </a:pPr>
            <a:r>
              <a:t>🔗 GitHub Notebook URL: github.com/username/spacex-launch-prediction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0F62FE"/>
                </a:solidFill>
              </a:defRPr>
            </a:pPr>
            <a:r>
              <a:t>EDA with Data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1300">
                <a:solidFill>
                  <a:srgbClr val="222222"/>
                </a:solidFill>
              </a:defRPr>
            </a:pPr>
            <a:r>
              <a:t>• Visualized relationships between Flight Number, Payload Mass, Launch Site, and Orbit types.</a:t>
            </a:r>
          </a:p>
          <a:p>
            <a:pPr>
              <a:spcAft>
                <a:spcPts val="800"/>
              </a:spcAft>
              <a:defRPr sz="1300">
                <a:solidFill>
                  <a:srgbClr val="222222"/>
                </a:solidFill>
              </a:defRPr>
            </a:pPr>
            <a:r>
              <a:t>• Plotted scatter plots and bar graphs via Seaborn to inspect correlations and success trends.</a:t>
            </a:r>
          </a:p>
          <a:p>
            <a:br/>
            <a:pPr>
              <a:defRPr sz="1200" b="1">
                <a:solidFill>
                  <a:srgbClr val="0F62FE"/>
                </a:solidFill>
              </a:defRPr>
            </a:pPr>
            <a:r>
              <a:t>🔗 GitHub Notebook URL: github.com/username/spacex-launch-prediction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0F62FE"/>
                </a:solidFill>
              </a:defRPr>
            </a:pPr>
            <a:r>
              <a:t>EDA with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1300">
                <a:solidFill>
                  <a:srgbClr val="222222"/>
                </a:solidFill>
              </a:defRPr>
            </a:pPr>
            <a:r>
              <a:t>• Executed SQL queries (SQLite/Db2) to calculate success rates per launch site, total payload masses, and mission date ranges.</a:t>
            </a:r>
          </a:p>
          <a:p>
            <a:pPr>
              <a:spcAft>
                <a:spcPts val="800"/>
              </a:spcAft>
              <a:defRPr sz="1300">
                <a:solidFill>
                  <a:srgbClr val="222222"/>
                </a:solidFill>
              </a:defRPr>
            </a:pPr>
            <a:r>
              <a:t>• Filtered launch records by booster versions, drone ship successes, and landing pad types.</a:t>
            </a:r>
          </a:p>
          <a:p>
            <a:br/>
            <a:pPr>
              <a:defRPr sz="1200" b="1">
                <a:solidFill>
                  <a:srgbClr val="0F62FE"/>
                </a:solidFill>
              </a:defRPr>
            </a:pPr>
            <a:r>
              <a:t>🔗 GitHub Notebook URL: github.com/username/spacex-launch-prediction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0F62FE"/>
                </a:solidFill>
              </a:defRPr>
            </a:pPr>
            <a:r>
              <a:t>Build an Interactive Map with Folium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1300">
                <a:solidFill>
                  <a:srgbClr val="222222"/>
                </a:solidFill>
              </a:defRPr>
            </a:pPr>
            <a:r>
              <a:t>• Plotted launch sites using Folium markers, marker clusters, and distance lines.</a:t>
            </a:r>
          </a:p>
          <a:p>
            <a:pPr>
              <a:spcAft>
                <a:spcPts val="800"/>
              </a:spcAft>
              <a:defRPr sz="1300">
                <a:solidFill>
                  <a:srgbClr val="222222"/>
                </a:solidFill>
              </a:defRPr>
            </a:pPr>
            <a:r>
              <a:t>• Evaluated proximity to coastlines, railways, and highways to analyze logistics and safety factors.</a:t>
            </a:r>
          </a:p>
          <a:p>
            <a:br/>
            <a:pPr>
              <a:defRPr sz="1200" b="1">
                <a:solidFill>
                  <a:srgbClr val="0F62FE"/>
                </a:solidFill>
              </a:defRPr>
            </a:pPr>
            <a:r>
              <a:t>🔗 GitHub Notebook URL: github.com/username/spacex-launch-prediction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0F62FE"/>
                </a:solidFill>
              </a:defRPr>
            </a:pPr>
            <a:r>
              <a:t>Build a Dashboard with Plotly Dash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1300">
                <a:solidFill>
                  <a:srgbClr val="222222"/>
                </a:solidFill>
              </a:defRPr>
            </a:pPr>
            <a:r>
              <a:t>• Designed a dynamic web dashboard featuring dropdown site filters and payload range sliders.</a:t>
            </a:r>
          </a:p>
          <a:p>
            <a:pPr>
              <a:spcAft>
                <a:spcPts val="800"/>
              </a:spcAft>
              <a:defRPr sz="1300">
                <a:solidFill>
                  <a:srgbClr val="222222"/>
                </a:solidFill>
              </a:defRPr>
            </a:pPr>
            <a:r>
              <a:t>• Enabled real-time interactive decision analytics for mission stakeholders.</a:t>
            </a:r>
          </a:p>
          <a:p>
            <a:br/>
            <a:pPr>
              <a:defRPr sz="1200" b="1">
                <a:solidFill>
                  <a:srgbClr val="0F62FE"/>
                </a:solidFill>
              </a:defRPr>
            </a:pPr>
            <a:r>
              <a:t>🔗 GitHub Notebook URL: github.com/username/spacex-launch-prediction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0F62FE"/>
                </a:solidFill>
              </a:defRPr>
            </a:pPr>
            <a:r>
              <a:t>Predictive Analysis (Classification)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1300">
                <a:solidFill>
                  <a:srgbClr val="222222"/>
                </a:solidFill>
              </a:defRPr>
            </a:pPr>
            <a:r>
              <a:t>• Normalized feature set X using StandardScaler.</a:t>
            </a:r>
          </a:p>
          <a:p>
            <a:pPr>
              <a:spcAft>
                <a:spcPts val="800"/>
              </a:spcAft>
              <a:defRPr sz="1300">
                <a:solidFill>
                  <a:srgbClr val="222222"/>
                </a:solidFill>
              </a:defRPr>
            </a:pPr>
            <a:r>
              <a:t>• Split dataset into training and testing sets.</a:t>
            </a:r>
          </a:p>
          <a:p>
            <a:pPr>
              <a:spcAft>
                <a:spcPts val="800"/>
              </a:spcAft>
              <a:defRPr sz="1300">
                <a:solidFill>
                  <a:srgbClr val="222222"/>
                </a:solidFill>
              </a:defRPr>
            </a:pPr>
            <a:r>
              <a:t>• Hyperparameter tuned Decision Tree, SVM, KNN, and Logistic Regression via GridSearchCV with 10-fold Cross-Validation.</a:t>
            </a:r>
          </a:p>
          <a:p>
            <a:br/>
            <a:pPr>
              <a:defRPr sz="1200" b="1">
                <a:solidFill>
                  <a:srgbClr val="0F62FE"/>
                </a:solidFill>
              </a:defRPr>
            </a:pPr>
            <a:r>
              <a:t>🔗 GitHub Notebook URL: github.com/username/spacex-launch-prediction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F62FE"/>
                </a:solidFill>
              </a:defRPr>
            </a:pPr>
            <a:r>
              <a:t>Section 2: Exploratory Data Analysis Results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62FE"/>
                </a:solidFill>
              </a:defRPr>
            </a:pPr>
            <a:r>
              <a:t>Flight Number vs. Launch Site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4572000" cy="530352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787878"/>
                </a:solidFill>
              </a:defRPr>
            </a:pPr>
            <a:r>
              <a:t>[Scatter Plot: Flight Number vs Launch Site]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0" y="914400"/>
            <a:ext cx="3474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62FE"/>
                </a:solidFill>
              </a:defRPr>
            </a:pPr>
            <a:r>
              <a:t>Key Findings &amp; Analysis:</a:t>
            </a:r>
          </a:p>
          <a:p>
            <a:pPr>
              <a:spcAft>
                <a:spcPts val="800"/>
              </a:spcAft>
              <a:defRPr sz="1200">
                <a:solidFill>
                  <a:srgbClr val="222222"/>
                </a:solidFill>
              </a:defRPr>
            </a:pPr>
            <a:r>
              <a:t>• Earlier flight numbers had lower landing success rates.</a:t>
            </a:r>
          </a:p>
          <a:p>
            <a:pPr>
              <a:spcAft>
                <a:spcPts val="800"/>
              </a:spcAft>
              <a:defRPr sz="1200">
                <a:solidFill>
                  <a:srgbClr val="222222"/>
                </a:solidFill>
              </a:defRPr>
            </a:pPr>
            <a:r>
              <a:t>• As flight numbers increased, overall landing performance improved across all sites.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62FE"/>
                </a:solidFill>
              </a:defRPr>
            </a:pPr>
            <a:r>
              <a:t>Payload vs. Launch Site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4572000" cy="530352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787878"/>
                </a:solidFill>
              </a:defRPr>
            </a:pPr>
            <a:r>
              <a:t>[Scatter Plot: Payload vs Launch Site]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0" y="914400"/>
            <a:ext cx="3474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62FE"/>
                </a:solidFill>
              </a:defRPr>
            </a:pPr>
            <a:r>
              <a:t>Key Findings &amp; Analysis:</a:t>
            </a:r>
          </a:p>
          <a:p>
            <a:pPr>
              <a:spcAft>
                <a:spcPts val="800"/>
              </a:spcAft>
              <a:defRPr sz="1200">
                <a:solidFill>
                  <a:srgbClr val="222222"/>
                </a:solidFill>
              </a:defRPr>
            </a:pPr>
            <a:r>
              <a:t>• CCAFS LC-40 handles a wide variance of payload masses.</a:t>
            </a:r>
          </a:p>
          <a:p>
            <a:pPr>
              <a:spcAft>
                <a:spcPts val="800"/>
              </a:spcAft>
              <a:defRPr sz="1200">
                <a:solidFill>
                  <a:srgbClr val="222222"/>
                </a:solidFill>
              </a:defRPr>
            </a:pPr>
            <a:r>
              <a:t>• KSC LC-39A demonstrates higher landing success rates even with heavier payloads.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62FE"/>
                </a:solidFill>
              </a:defRPr>
            </a:pPr>
            <a:r>
              <a:t>Success Rate vs. Orbit 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4572000" cy="530352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787878"/>
                </a:solidFill>
              </a:defRPr>
            </a:pPr>
            <a:r>
              <a:t>[Bar Chart: Launch Success Rate by Site / Orbit]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0" y="914400"/>
            <a:ext cx="3474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62FE"/>
                </a:solidFill>
              </a:defRPr>
            </a:pPr>
            <a:r>
              <a:t>Key Findings &amp; Analysis:</a:t>
            </a:r>
          </a:p>
          <a:p>
            <a:pPr>
              <a:spcAft>
                <a:spcPts val="800"/>
              </a:spcAft>
              <a:defRPr sz="1200">
                <a:solidFill>
                  <a:srgbClr val="222222"/>
                </a:solidFill>
              </a:defRPr>
            </a:pPr>
            <a:r>
              <a:t>• Kennedy Space Center (KSC LC-39A) exhibits the highest success rate overall (77%).</a:t>
            </a:r>
          </a:p>
          <a:p>
            <a:pPr>
              <a:spcAft>
                <a:spcPts val="800"/>
              </a:spcAft>
              <a:defRPr sz="1200">
                <a:solidFill>
                  <a:srgbClr val="222222"/>
                </a:solidFill>
              </a:defRPr>
            </a:pPr>
            <a:r>
              <a:t>• ES-L1, GEO, HEO, and SSO orbits show optimal reusability performance.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62FE"/>
                </a:solidFill>
              </a:defRPr>
            </a:pPr>
            <a:r>
              <a:t>Flight Number vs. Orbit 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4572000" cy="530352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787878"/>
                </a:solidFill>
              </a:defRPr>
            </a:pPr>
            <a:r>
              <a:t>[Scatter Plot: Flight Number vs Orbit Type]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0" y="914400"/>
            <a:ext cx="3474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62FE"/>
                </a:solidFill>
              </a:defRPr>
            </a:pPr>
            <a:r>
              <a:t>Key Findings &amp; Analysis:</a:t>
            </a:r>
          </a:p>
          <a:p>
            <a:pPr>
              <a:spcAft>
                <a:spcPts val="800"/>
              </a:spcAft>
              <a:defRPr sz="1200">
                <a:solidFill>
                  <a:srgbClr val="222222"/>
                </a:solidFill>
              </a:defRPr>
            </a:pPr>
            <a:r>
              <a:t>• LEO orbits were dominated by early flight numbers.</a:t>
            </a:r>
          </a:p>
          <a:p>
            <a:pPr>
              <a:spcAft>
                <a:spcPts val="800"/>
              </a:spcAft>
              <a:defRPr sz="1200">
                <a:solidFill>
                  <a:srgbClr val="222222"/>
                </a:solidFill>
              </a:defRPr>
            </a:pPr>
            <a:r>
              <a:t>• Higher flight numbers are strongly associated with VLEO and ISS supply missions.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62FE"/>
                </a:solidFill>
              </a:defRPr>
            </a:pPr>
            <a:r>
              <a:t>Payload vs. Orbit 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4572000" cy="530352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787878"/>
                </a:solidFill>
              </a:defRPr>
            </a:pPr>
            <a:r>
              <a:t>[Scatter Plot: Payload vs Orbit Type]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0" y="914400"/>
            <a:ext cx="3474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62FE"/>
                </a:solidFill>
              </a:defRPr>
            </a:pPr>
            <a:r>
              <a:t>Key Findings &amp; Analysis:</a:t>
            </a:r>
          </a:p>
          <a:p>
            <a:pPr>
              <a:spcAft>
                <a:spcPts val="800"/>
              </a:spcAft>
              <a:defRPr sz="1200">
                <a:solidFill>
                  <a:srgbClr val="222222"/>
                </a:solidFill>
              </a:defRPr>
            </a:pPr>
            <a:r>
              <a:t>• GTO payloads are clustered between 2,000 kg and 6,000 kg.</a:t>
            </a:r>
          </a:p>
          <a:p>
            <a:pPr>
              <a:spcAft>
                <a:spcPts val="800"/>
              </a:spcAft>
              <a:defRPr sz="1200">
                <a:solidFill>
                  <a:srgbClr val="222222"/>
                </a:solidFill>
              </a:defRPr>
            </a:pPr>
            <a:r>
              <a:t>• Heavy payloads (&gt;10,000 kg) are predominantly targeted toward LEO / VLEO orbits.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62FE"/>
                </a:solidFill>
              </a:defRPr>
            </a:pPr>
            <a:r>
              <a:t>Launch Success Yearly Trend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4572000" cy="530352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787878"/>
                </a:solidFill>
              </a:defRPr>
            </a:pPr>
            <a:r>
              <a:t>[Line Chart: Yearly Success Trend]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0" y="914400"/>
            <a:ext cx="3474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62FE"/>
                </a:solidFill>
              </a:defRPr>
            </a:pPr>
            <a:r>
              <a:t>Key Findings &amp; Analysis:</a:t>
            </a:r>
          </a:p>
          <a:p>
            <a:pPr>
              <a:spcAft>
                <a:spcPts val="800"/>
              </a:spcAft>
              <a:defRPr sz="1200">
                <a:solidFill>
                  <a:srgbClr val="222222"/>
                </a:solidFill>
              </a:defRPr>
            </a:pPr>
            <a:r>
              <a:t>• Success rate grew from 0% in 2010 to over 80%+ by 2020.</a:t>
            </a:r>
          </a:p>
          <a:p>
            <a:pPr>
              <a:spcAft>
                <a:spcPts val="800"/>
              </a:spcAft>
              <a:defRPr sz="1200">
                <a:solidFill>
                  <a:srgbClr val="222222"/>
                </a:solidFill>
              </a:defRPr>
            </a:pPr>
            <a:r>
              <a:t>• Validates rapid operational maturity and booster landing capabilities.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62FE"/>
                </a:solidFill>
              </a:defRPr>
            </a:pPr>
            <a:r>
              <a:t>All Launch Site Names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4572000" cy="530352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787878"/>
                </a:solidFill>
              </a:defRPr>
            </a:pPr>
            <a:r>
              <a:t>[SQL Result: All Launch Sites]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0" y="914400"/>
            <a:ext cx="3474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62FE"/>
                </a:solidFill>
              </a:defRPr>
            </a:pPr>
            <a:r>
              <a:t>Key Findings &amp; Analysis:</a:t>
            </a:r>
          </a:p>
          <a:p>
            <a:pPr>
              <a:spcAft>
                <a:spcPts val="800"/>
              </a:spcAft>
              <a:defRPr sz="1200">
                <a:solidFill>
                  <a:srgbClr val="222222"/>
                </a:solidFill>
              </a:defRPr>
            </a:pPr>
            <a:r>
              <a:t>• Query: SELECT DISTINCT Launch_Site FROM SPACEXTBL;</a:t>
            </a:r>
          </a:p>
          <a:p>
            <a:pPr>
              <a:spcAft>
                <a:spcPts val="800"/>
              </a:spcAft>
              <a:defRPr sz="1200">
                <a:solidFill>
                  <a:srgbClr val="222222"/>
                </a:solidFill>
              </a:defRPr>
            </a:pPr>
            <a:r>
              <a:t>• Result: 4 Unique launch pads identified (KSC LC-39A, VAFB SLC-4E, CCAFS SLC-40, CCAFS LC-40).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62FE"/>
                </a:solidFill>
              </a:defRPr>
            </a:pPr>
            <a:r>
              <a:t>Launch Site Names Begin with 'CCA'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4572000" cy="530352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787878"/>
                </a:solidFill>
              </a:defRPr>
            </a:pPr>
            <a:r>
              <a:t>[SQL Result: CCA Launch Sites]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0" y="914400"/>
            <a:ext cx="3474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62FE"/>
                </a:solidFill>
              </a:defRPr>
            </a:pPr>
            <a:r>
              <a:t>Key Findings &amp; Analysis:</a:t>
            </a:r>
          </a:p>
          <a:p>
            <a:pPr>
              <a:spcAft>
                <a:spcPts val="800"/>
              </a:spcAft>
              <a:defRPr sz="1200">
                <a:solidFill>
                  <a:srgbClr val="222222"/>
                </a:solidFill>
              </a:defRPr>
            </a:pPr>
            <a:r>
              <a:t>• Query: SELECT Launch_Site FROM SPACEXTBL WHERE Launch_Site LIKE 'CCA%' LIMIT 5;</a:t>
            </a:r>
          </a:p>
          <a:p>
            <a:pPr>
              <a:spcAft>
                <a:spcPts val="800"/>
              </a:spcAft>
              <a:defRPr sz="1200">
                <a:solidFill>
                  <a:srgbClr val="222222"/>
                </a:solidFill>
              </a:defRPr>
            </a:pPr>
            <a:r>
              <a:t>• Result: Returns early Cape Canaveral launch pads establishing geographic diversity.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62FE"/>
                </a:solidFill>
              </a:defRPr>
            </a:pPr>
            <a:r>
              <a:t>Total Payload Mass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4572000" cy="530352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787878"/>
                </a:solidFill>
              </a:defRPr>
            </a:pPr>
            <a:r>
              <a:t>[SQL Result: Total Payload Mass]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0" y="914400"/>
            <a:ext cx="3474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62FE"/>
                </a:solidFill>
              </a:defRPr>
            </a:pPr>
            <a:r>
              <a:t>Key Findings &amp; Analysis:</a:t>
            </a:r>
          </a:p>
          <a:p>
            <a:pPr>
              <a:spcAft>
                <a:spcPts val="800"/>
              </a:spcAft>
              <a:defRPr sz="1200">
                <a:solidFill>
                  <a:srgbClr val="222222"/>
                </a:solidFill>
              </a:defRPr>
            </a:pPr>
            <a:r>
              <a:t>• Query: SELECT SUM(PAYLOAD_MASS_KG_) FROM SPACEXTBL WHERE Customer = 'NASA (CRS)';</a:t>
            </a:r>
          </a:p>
          <a:p>
            <a:pPr>
              <a:spcAft>
                <a:spcPts val="800"/>
              </a:spcAft>
              <a:defRPr sz="1200">
                <a:solidFill>
                  <a:srgbClr val="222222"/>
                </a:solidFill>
              </a:defRPr>
            </a:pPr>
            <a:r>
              <a:t>• Calculates total payload mass carried for NASA resupply missions.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62FE"/>
                </a:solidFill>
              </a:defRPr>
            </a:pPr>
            <a:r>
              <a:t>Average Payload Mass by F9 v1.1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4572000" cy="530352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787878"/>
                </a:solidFill>
              </a:defRPr>
            </a:pPr>
            <a:r>
              <a:t>[SQL Result: Average Payload Mass]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0" y="914400"/>
            <a:ext cx="3474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62FE"/>
                </a:solidFill>
              </a:defRPr>
            </a:pPr>
            <a:r>
              <a:t>Key Findings &amp; Analysis:</a:t>
            </a:r>
          </a:p>
          <a:p>
            <a:pPr>
              <a:spcAft>
                <a:spcPts val="800"/>
              </a:spcAft>
              <a:defRPr sz="1200">
                <a:solidFill>
                  <a:srgbClr val="222222"/>
                </a:solidFill>
              </a:defRPr>
            </a:pPr>
            <a:r>
              <a:t>• Query: SELECT AVG(PAYLOAD_MASS_KG_) WHERE Landing='Success';</a:t>
            </a:r>
          </a:p>
          <a:p>
            <a:pPr>
              <a:spcAft>
                <a:spcPts val="800"/>
              </a:spcAft>
              <a:defRPr sz="1200">
                <a:solidFill>
                  <a:srgbClr val="222222"/>
                </a:solidFill>
              </a:defRPr>
            </a:pPr>
            <a:r>
              <a:t>• Result: Average Payload is 5,402 kg for successful booster recovery missions.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62FE"/>
                </a:solidFill>
              </a:defRPr>
            </a:pPr>
            <a:r>
              <a:t>First Successful Ground Landing Date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4572000" cy="530352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787878"/>
                </a:solidFill>
              </a:defRPr>
            </a:pPr>
            <a:r>
              <a:t>[SQL Result: First Ground Landing Date]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0" y="914400"/>
            <a:ext cx="3474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62FE"/>
                </a:solidFill>
              </a:defRPr>
            </a:pPr>
            <a:r>
              <a:t>Key Findings &amp; Analysis:</a:t>
            </a:r>
          </a:p>
          <a:p>
            <a:pPr>
              <a:spcAft>
                <a:spcPts val="800"/>
              </a:spcAft>
              <a:defRPr sz="1200">
                <a:solidFill>
                  <a:srgbClr val="222222"/>
                </a:solidFill>
              </a:defRPr>
            </a:pPr>
            <a:r>
              <a:t>• Query: SELECT MIN(Date) FROM SPACEXTBL WHERE Landing_Outcome = 'Success (ground pad)';</a:t>
            </a:r>
          </a:p>
          <a:p>
            <a:pPr>
              <a:spcAft>
                <a:spcPts val="800"/>
              </a:spcAft>
              <a:defRPr sz="1200">
                <a:solidFill>
                  <a:srgbClr val="222222"/>
                </a:solidFill>
              </a:defRPr>
            </a:pPr>
            <a:r>
              <a:t>• Result: Validates early booster recovery proof-of-concept on ground pads.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62FE"/>
                </a:solidFill>
              </a:defRPr>
            </a:pPr>
            <a:r>
              <a:t>Successful Drone Ship Landing with Payload between 4000 and 6000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4572000" cy="530352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787878"/>
                </a:solidFill>
              </a:defRPr>
            </a:pPr>
            <a:r>
              <a:t>[SQL Result: Drone Ship Landings 4000-6000]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0" y="914400"/>
            <a:ext cx="3474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62FE"/>
                </a:solidFill>
              </a:defRPr>
            </a:pPr>
            <a:r>
              <a:t>Key Findings &amp; Analysis:</a:t>
            </a:r>
          </a:p>
          <a:p>
            <a:pPr>
              <a:spcAft>
                <a:spcPts val="800"/>
              </a:spcAft>
              <a:defRPr sz="1200">
                <a:solidFill>
                  <a:srgbClr val="222222"/>
                </a:solidFill>
              </a:defRPr>
            </a:pPr>
            <a:r>
              <a:t>• Query: SELECT Booster_Version FROM SPACEXTBL WHERE Landing_Outcome='Success (drone ship)' AND PAYLOAD_MASS_KG_ BETWEEN 4000 AND 6000;</a:t>
            </a:r>
          </a:p>
          <a:p>
            <a:pPr>
              <a:spcAft>
                <a:spcPts val="800"/>
              </a:spcAft>
              <a:defRPr sz="1200">
                <a:solidFill>
                  <a:srgbClr val="222222"/>
                </a:solidFill>
              </a:defRPr>
            </a:pPr>
            <a:r>
              <a:t>• Result: Total 8 successful drone ship landings recorded in this payload range.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62FE"/>
                </a:solidFill>
              </a:defRPr>
            </a:pPr>
            <a:r>
              <a:t>Total Number of Successful and Failure Mission Outcomes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4572000" cy="530352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787878"/>
                </a:solidFill>
              </a:defRPr>
            </a:pPr>
            <a:r>
              <a:t>[SQL Result: Success vs Failure Mission Counts]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0" y="914400"/>
            <a:ext cx="3474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62FE"/>
                </a:solidFill>
              </a:defRPr>
            </a:pPr>
            <a:r>
              <a:t>Key Findings &amp; Analysis:</a:t>
            </a:r>
          </a:p>
          <a:p>
            <a:pPr>
              <a:spcAft>
                <a:spcPts val="800"/>
              </a:spcAft>
              <a:defRPr sz="1200">
                <a:solidFill>
                  <a:srgbClr val="222222"/>
                </a:solidFill>
              </a:defRPr>
            </a:pPr>
            <a:r>
              <a:t>• Query: SELECT Mission_Outcome, COUNT(*) FROM SPACEXTBL GROUP BY Mission_Outcome;</a:t>
            </a:r>
          </a:p>
          <a:p>
            <a:pPr>
              <a:spcAft>
                <a:spcPts val="800"/>
              </a:spcAft>
              <a:defRPr sz="1200">
                <a:solidFill>
                  <a:srgbClr val="222222"/>
                </a:solidFill>
              </a:defRPr>
            </a:pPr>
            <a:r>
              <a:t>• Demonstrates high ratio of successful primary missions.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62FE"/>
                </a:solidFill>
              </a:defRPr>
            </a:pPr>
            <a:r>
              <a:t>Boosters Carried Maximum Payload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4572000" cy="530352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787878"/>
                </a:solidFill>
              </a:defRPr>
            </a:pPr>
            <a:r>
              <a:t>[SQL Result: Maximum Payload Boosters]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0" y="914400"/>
            <a:ext cx="3474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62FE"/>
                </a:solidFill>
              </a:defRPr>
            </a:pPr>
            <a:r>
              <a:t>Key Findings &amp; Analysis:</a:t>
            </a:r>
          </a:p>
          <a:p>
            <a:pPr>
              <a:spcAft>
                <a:spcPts val="800"/>
              </a:spcAft>
              <a:defRPr sz="1200">
                <a:solidFill>
                  <a:srgbClr val="222222"/>
                </a:solidFill>
              </a:defRPr>
            </a:pPr>
            <a:r>
              <a:t>• Query: SELECT Booster_Version FROM SPACEXTBL WHERE PAYLOAD_MASS_KG_ = (SELECT MAX(PAYLOAD_MASS_KG_) FROM SPACEXTBL);</a:t>
            </a:r>
          </a:p>
          <a:p>
            <a:pPr>
              <a:spcAft>
                <a:spcPts val="800"/>
              </a:spcAft>
              <a:defRPr sz="1200">
                <a:solidFill>
                  <a:srgbClr val="222222"/>
                </a:solidFill>
              </a:defRPr>
            </a:pPr>
            <a:r>
              <a:t>• Identifies heavy-lift booster versions.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62FE"/>
                </a:solidFill>
              </a:defRPr>
            </a:pPr>
            <a:r>
              <a:t>2015 Launch Records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4572000" cy="530352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787878"/>
                </a:solidFill>
              </a:defRPr>
            </a:pPr>
            <a:r>
              <a:t>[SQL Result: 2015 Landing Failures]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0" y="914400"/>
            <a:ext cx="3474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62FE"/>
                </a:solidFill>
              </a:defRPr>
            </a:pPr>
            <a:r>
              <a:t>Key Findings &amp; Analysis:</a:t>
            </a:r>
          </a:p>
          <a:p>
            <a:pPr>
              <a:spcAft>
                <a:spcPts val="800"/>
              </a:spcAft>
              <a:defRPr sz="1200">
                <a:solidFill>
                  <a:srgbClr val="222222"/>
                </a:solidFill>
              </a:defRPr>
            </a:pPr>
            <a:r>
              <a:t>• Query: SELECT Date, Booster_Version, Launch_Site FROM SPACEXTBL WHERE Landing_Outcome = 'Failure (drone ship)' AND YEAR(Date)='2015';</a:t>
            </a:r>
          </a:p>
          <a:p>
            <a:pPr>
              <a:spcAft>
                <a:spcPts val="800"/>
              </a:spcAft>
              <a:defRPr sz="1200">
                <a:solidFill>
                  <a:srgbClr val="222222"/>
                </a:solidFill>
              </a:defRPr>
            </a:pPr>
            <a:r>
              <a:t>• Lists early drone ship landing attempt failures during 2015.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62FE"/>
                </a:solidFill>
              </a:defRPr>
            </a:pPr>
            <a:r>
              <a:t>Rank Landing Outcomes Between 2010-06-04 and 2017-03-20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4572000" cy="530352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787878"/>
                </a:solidFill>
              </a:defRPr>
            </a:pPr>
            <a:r>
              <a:t>[SQL Result: Ranked Outcomes]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0" y="914400"/>
            <a:ext cx="3474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62FE"/>
                </a:solidFill>
              </a:defRPr>
            </a:pPr>
            <a:r>
              <a:t>Key Findings &amp; Analysis:</a:t>
            </a:r>
          </a:p>
          <a:p>
            <a:pPr>
              <a:spcAft>
                <a:spcPts val="800"/>
              </a:spcAft>
              <a:defRPr sz="1200">
                <a:solidFill>
                  <a:srgbClr val="222222"/>
                </a:solidFill>
              </a:defRPr>
            </a:pPr>
            <a:r>
              <a:t>• Query: SELECT Landing_Outcome, COUNT(*) FROM SPACEXTBL WHERE Date BETWEEN '2010-06-04' AND '2017-03-20' GROUP BY Landing_Outcome ORDER BY COUNT(*) DESC;</a:t>
            </a:r>
          </a:p>
          <a:p>
            <a:pPr>
              <a:spcAft>
                <a:spcPts val="800"/>
              </a:spcAft>
              <a:defRPr sz="1200">
                <a:solidFill>
                  <a:srgbClr val="222222"/>
                </a:solidFill>
              </a:defRPr>
            </a:pPr>
            <a:r>
              <a:t>• Ranks all outcomes chronologically over the early operational timeframe.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F62FE"/>
                </a:solidFill>
              </a:defRPr>
            </a:pPr>
            <a:r>
              <a:t>Section 3: Interactive Analytics Demo (Folium Map)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62FE"/>
                </a:solidFill>
              </a:defRPr>
            </a:pPr>
            <a:r>
              <a:t>Global Launch Site Locations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4572000" cy="530352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787878"/>
                </a:solidFill>
              </a:defRPr>
            </a:pPr>
            <a:r>
              <a:t>[Folium Screenshot 1: Coastal Launch Sites]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0" y="914400"/>
            <a:ext cx="3474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62FE"/>
                </a:solidFill>
              </a:defRPr>
            </a:pPr>
            <a:r>
              <a:t>Key Findings &amp; Analysis:</a:t>
            </a:r>
          </a:p>
          <a:p>
            <a:pPr>
              <a:spcAft>
                <a:spcPts val="800"/>
              </a:spcAft>
              <a:defRPr sz="1200">
                <a:solidFill>
                  <a:srgbClr val="222222"/>
                </a:solidFill>
              </a:defRPr>
            </a:pPr>
            <a:r>
              <a:t>• All launch complexes are located immediately adjacent to coastlines.</a:t>
            </a:r>
          </a:p>
          <a:p>
            <a:pPr>
              <a:spcAft>
                <a:spcPts val="800"/>
              </a:spcAft>
              <a:defRPr sz="1200">
                <a:solidFill>
                  <a:srgbClr val="222222"/>
                </a:solidFill>
              </a:defRPr>
            </a:pPr>
            <a:r>
              <a:t>• Minimizes public hazard during launch and recovery phases.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62FE"/>
                </a:solidFill>
              </a:defRPr>
            </a:pPr>
            <a:r>
              <a:t>Color-Labeled Launch Outcomes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4572000" cy="530352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787878"/>
                </a:solidFill>
              </a:defRPr>
            </a:pPr>
            <a:r>
              <a:t>[Folium Screenshot 2: Outcome Markers]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0" y="914400"/>
            <a:ext cx="3474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62FE"/>
                </a:solidFill>
              </a:defRPr>
            </a:pPr>
            <a:r>
              <a:t>Key Findings &amp; Analysis:</a:t>
            </a:r>
          </a:p>
          <a:p>
            <a:pPr>
              <a:spcAft>
                <a:spcPts val="800"/>
              </a:spcAft>
              <a:defRPr sz="1200">
                <a:solidFill>
                  <a:srgbClr val="222222"/>
                </a:solidFill>
              </a:defRPr>
            </a:pPr>
            <a:r>
              <a:t>• Green markers indicate successful landings; Red markers indicate failures.</a:t>
            </a:r>
          </a:p>
          <a:p>
            <a:pPr>
              <a:spcAft>
                <a:spcPts val="800"/>
              </a:spcAft>
              <a:defRPr sz="1200">
                <a:solidFill>
                  <a:srgbClr val="222222"/>
                </a:solidFill>
              </a:defRPr>
            </a:pPr>
            <a:r>
              <a:t>• Clustering illustrates high success concentration at KSC LC-39A.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62FE"/>
                </a:solidFill>
              </a:defRPr>
            </a:pPr>
            <a:r>
              <a:t>Proximity Analysis to Infrastructure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4572000" cy="530352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787878"/>
                </a:solidFill>
              </a:defRPr>
            </a:pPr>
            <a:r>
              <a:t>[Folium Screenshot 3: Distance Proximities]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0" y="914400"/>
            <a:ext cx="3474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62FE"/>
                </a:solidFill>
              </a:defRPr>
            </a:pPr>
            <a:r>
              <a:t>Key Findings &amp; Analysis:</a:t>
            </a:r>
          </a:p>
          <a:p>
            <a:pPr>
              <a:spcAft>
                <a:spcPts val="800"/>
              </a:spcAft>
              <a:defRPr sz="1200">
                <a:solidFill>
                  <a:srgbClr val="222222"/>
                </a:solidFill>
              </a:defRPr>
            </a:pPr>
            <a:r>
              <a:t>• All sites are within 1.5 km of major railways and highways.</a:t>
            </a:r>
          </a:p>
          <a:p>
            <a:pPr>
              <a:spcAft>
                <a:spcPts val="800"/>
              </a:spcAft>
              <a:defRPr sz="1200">
                <a:solidFill>
                  <a:srgbClr val="222222"/>
                </a:solidFill>
              </a:defRPr>
            </a:pPr>
            <a:r>
              <a:t>• Facilitates heavy payload transportation and logistics.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F62FE"/>
                </a:solidFill>
              </a:defRPr>
            </a:pPr>
            <a:r>
              <a:t>Section 4: Plotly Dash Dashboard Results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62FE"/>
                </a:solidFill>
              </a:defRPr>
            </a:pPr>
            <a:r>
              <a:t>Launch Success Count for All Sites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4572000" cy="530352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787878"/>
                </a:solidFill>
              </a:defRPr>
            </a:pPr>
            <a:r>
              <a:t>[Dash Screenshot 1: Success Count Pie Chart]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0" y="914400"/>
            <a:ext cx="3474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62FE"/>
                </a:solidFill>
              </a:defRPr>
            </a:pPr>
            <a:r>
              <a:t>Key Findings &amp; Analysis:</a:t>
            </a:r>
          </a:p>
          <a:p>
            <a:pPr>
              <a:spcAft>
                <a:spcPts val="800"/>
              </a:spcAft>
              <a:defRPr sz="1200">
                <a:solidFill>
                  <a:srgbClr val="222222"/>
                </a:solidFill>
              </a:defRPr>
            </a:pPr>
            <a:r>
              <a:t>• KSC LC-39A exhibits highest landing success rate (77%).</a:t>
            </a:r>
          </a:p>
          <a:p>
            <a:pPr>
              <a:spcAft>
                <a:spcPts val="800"/>
              </a:spcAft>
              <a:defRPr sz="1200">
                <a:solidFill>
                  <a:srgbClr val="222222"/>
                </a:solidFill>
              </a:defRPr>
            </a:pPr>
            <a:r>
              <a:t>• CCAFS LC-40 shows lowest success rate (27%) due to early trial launches.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62FE"/>
                </a:solidFill>
              </a:defRPr>
            </a:pPr>
            <a:r>
              <a:t>Highest Success Site Ratio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4572000" cy="530352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787878"/>
                </a:solidFill>
              </a:defRPr>
            </a:pPr>
            <a:r>
              <a:t>[Dash Screenshot 2: Site Success Ratio]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0" y="914400"/>
            <a:ext cx="3474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62FE"/>
                </a:solidFill>
              </a:defRPr>
            </a:pPr>
            <a:r>
              <a:t>Key Findings &amp; Analysis:</a:t>
            </a:r>
          </a:p>
          <a:p>
            <a:pPr>
              <a:spcAft>
                <a:spcPts val="800"/>
              </a:spcAft>
              <a:defRPr sz="1200">
                <a:solidFill>
                  <a:srgbClr val="222222"/>
                </a:solidFill>
              </a:defRPr>
            </a:pPr>
            <a:r>
              <a:t>• KSC LC-39A benefits from optimized payload trajectories and modern pad infrastructure.</a:t>
            </a:r>
          </a:p>
          <a:p>
            <a:pPr>
              <a:spcAft>
                <a:spcPts val="800"/>
              </a:spcAft>
              <a:defRPr sz="1200">
                <a:solidFill>
                  <a:srgbClr val="222222"/>
                </a:solidFill>
              </a:defRPr>
            </a:pPr>
            <a:r>
              <a:t>• FT (Falcon 9 Full Thrust) achieved highest overall landing reliability.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62FE"/>
                </a:solidFill>
              </a:defRPr>
            </a:pPr>
            <a:r>
              <a:t>Payload vs. Launch Outcome Scatter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4572000" cy="530352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787878"/>
                </a:solidFill>
              </a:defRPr>
            </a:pPr>
            <a:r>
              <a:t>[Dash Screenshot 3: Payload vs Outcome Scatter]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0" y="914400"/>
            <a:ext cx="3474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62FE"/>
                </a:solidFill>
              </a:defRPr>
            </a:pPr>
            <a:r>
              <a:t>Key Findings &amp; Analysis:</a:t>
            </a:r>
          </a:p>
          <a:p>
            <a:pPr>
              <a:spcAft>
                <a:spcPts val="800"/>
              </a:spcAft>
              <a:defRPr sz="1200">
                <a:solidFill>
                  <a:srgbClr val="222222"/>
                </a:solidFill>
              </a:defRPr>
            </a:pPr>
            <a:r>
              <a:t>• Payloads between 2,000 kg and 5,500 kg demonstrate the highest landing success rates across all sites.</a:t>
            </a:r>
          </a:p>
          <a:p>
            <a:pPr>
              <a:spcAft>
                <a:spcPts val="800"/>
              </a:spcAft>
              <a:defRPr sz="1200">
                <a:solidFill>
                  <a:srgbClr val="222222"/>
                </a:solidFill>
              </a:defRPr>
            </a:pPr>
            <a:r>
              <a:t>• Allows stakeholders to simulate landing likelihood prior to mission approval.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F62FE"/>
                </a:solidFill>
              </a:defRPr>
            </a:pPr>
            <a:r>
              <a:t>Section 5: Predictive Analysis Results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62FE"/>
                </a:solidFill>
              </a:defRPr>
            </a:pPr>
            <a:r>
              <a:t>Classification Accuracy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4572000" cy="530352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787878"/>
                </a:solidFill>
              </a:defRPr>
            </a:pPr>
            <a:r>
              <a:t>[Bar Chart: Model Test Accuracy Comparison]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0" y="914400"/>
            <a:ext cx="3474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62FE"/>
                </a:solidFill>
              </a:defRPr>
            </a:pPr>
            <a:r>
              <a:t>Key Findings &amp; Analysis:</a:t>
            </a:r>
          </a:p>
          <a:p>
            <a:pPr>
              <a:spcAft>
                <a:spcPts val="800"/>
              </a:spcAft>
              <a:defRPr sz="1200">
                <a:solidFill>
                  <a:srgbClr val="222222"/>
                </a:solidFill>
              </a:defRPr>
            </a:pPr>
            <a:r>
              <a:t>• Decision Tree: Train 84.7% | Test 83.3%</a:t>
            </a:r>
          </a:p>
          <a:p>
            <a:pPr>
              <a:spcAft>
                <a:spcPts val="800"/>
              </a:spcAft>
              <a:defRPr sz="1200">
                <a:solidFill>
                  <a:srgbClr val="222222"/>
                </a:solidFill>
              </a:defRPr>
            </a:pPr>
            <a:r>
              <a:t>• SVM: Train 84.7% | Test 83.3%</a:t>
            </a:r>
          </a:p>
          <a:p>
            <a:pPr>
              <a:spcAft>
                <a:spcPts val="800"/>
              </a:spcAft>
              <a:defRPr sz="1200">
                <a:solidFill>
                  <a:srgbClr val="222222"/>
                </a:solidFill>
              </a:defRPr>
            </a:pPr>
            <a:r>
              <a:t>• Logistic Regression: Train 84.7% | Test 83.3%</a:t>
            </a:r>
          </a:p>
          <a:p>
            <a:pPr>
              <a:spcAft>
                <a:spcPts val="800"/>
              </a:spcAft>
              <a:defRPr sz="1200">
                <a:solidFill>
                  <a:srgbClr val="222222"/>
                </a:solidFill>
              </a:defRPr>
            </a:pPr>
            <a:r>
              <a:t>• KNN: Train 84.7% | Test 83.3%</a:t>
            </a:r>
          </a:p>
          <a:p>
            <a:pPr>
              <a:spcAft>
                <a:spcPts val="800"/>
              </a:spcAft>
              <a:defRPr sz="1200">
                <a:solidFill>
                  <a:srgbClr val="222222"/>
                </a:solidFill>
              </a:defRPr>
            </a:pPr>
            <a:r>
              <a:t>• All models achieved an identical top test accuracy of 83.3%.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62FE"/>
                </a:solidFill>
              </a:defRPr>
            </a:pPr>
            <a:r>
              <a:t>Confusion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4572000" cy="530352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787878"/>
                </a:solidFill>
              </a:defRPr>
            </a:pPr>
            <a:r>
              <a:t>[Confusion Matrix Screenshot]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0" y="914400"/>
            <a:ext cx="3474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62FE"/>
                </a:solidFill>
              </a:defRPr>
            </a:pPr>
            <a:r>
              <a:t>Key Findings &amp; Analysis:</a:t>
            </a:r>
          </a:p>
          <a:p>
            <a:pPr>
              <a:spcAft>
                <a:spcPts val="800"/>
              </a:spcAft>
              <a:defRPr sz="1200">
                <a:solidFill>
                  <a:srgbClr val="222222"/>
                </a:solidFill>
              </a:defRPr>
            </a:pPr>
            <a:r>
              <a:t>• All four models tuned via GridSearchCV achieved 83.3% accuracy on unseen test data.</a:t>
            </a:r>
          </a:p>
          <a:p>
            <a:pPr>
              <a:spcAft>
                <a:spcPts val="800"/>
              </a:spcAft>
              <a:defRPr sz="1200">
                <a:solidFill>
                  <a:srgbClr val="222222"/>
                </a:solidFill>
              </a:defRPr>
            </a:pPr>
            <a:r>
              <a:t>• Exceptional precision in predicting successful booster landings (Class 1).</a:t>
            </a:r>
          </a:p>
          <a:p>
            <a:pPr>
              <a:spcAft>
                <a:spcPts val="800"/>
              </a:spcAft>
              <a:defRPr sz="1200">
                <a:solidFill>
                  <a:srgbClr val="222222"/>
                </a:solidFill>
              </a:defRPr>
            </a:pPr>
            <a:r>
              <a:t>• Minor misclassifications attributed to sparse historical data on early landing failures.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0F62FE"/>
                </a:solidFill>
              </a:defRPr>
            </a:pPr>
            <a:r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1300">
                <a:solidFill>
                  <a:srgbClr val="222222"/>
                </a:solidFill>
              </a:defRPr>
            </a:pPr>
            <a:r>
              <a:t>• Commercial Takeaways:</a:t>
            </a:r>
          </a:p>
          <a:p>
            <a:pPr>
              <a:spcAft>
                <a:spcPts val="800"/>
              </a:spcAft>
              <a:defRPr sz="1300">
                <a:solidFill>
                  <a:srgbClr val="222222"/>
                </a:solidFill>
              </a:defRPr>
            </a:pPr>
            <a:r>
              <a:t>  1. Payload optimal window (2,000-5,500 kg) yields maximum first-stage recovery rate.</a:t>
            </a:r>
          </a:p>
          <a:p>
            <a:pPr>
              <a:spcAft>
                <a:spcPts val="800"/>
              </a:spcAft>
              <a:defRPr sz="1300">
                <a:solidFill>
                  <a:srgbClr val="222222"/>
                </a:solidFill>
              </a:defRPr>
            </a:pPr>
            <a:r>
              <a:t>  2. KSC LC-39A offers the lowest operational recovery risk (77% success).</a:t>
            </a:r>
          </a:p>
          <a:p>
            <a:pPr>
              <a:spcAft>
                <a:spcPts val="800"/>
              </a:spcAft>
              <a:defRPr sz="1300">
                <a:solidFill>
                  <a:srgbClr val="222222"/>
                </a:solidFill>
              </a:defRPr>
            </a:pPr>
            <a:r>
              <a:t>  3. Cost reduction of ~$100M per launch achievable via reliable booster reuse ($62M vs $165M).</a:t>
            </a:r>
          </a:p>
          <a:p>
            <a:pPr>
              <a:spcAft>
                <a:spcPts val="800"/>
              </a:spcAft>
              <a:defRPr sz="1300">
                <a:solidFill>
                  <a:srgbClr val="222222"/>
                </a:solidFill>
              </a:defRPr>
            </a:pPr>
            <a:r>
              <a:t>• Recommendations:</a:t>
            </a:r>
          </a:p>
          <a:p>
            <a:pPr>
              <a:spcAft>
                <a:spcPts val="800"/>
              </a:spcAft>
              <a:defRPr sz="1300">
                <a:solidFill>
                  <a:srgbClr val="222222"/>
                </a:solidFill>
              </a:defRPr>
            </a:pPr>
            <a:r>
              <a:t>  1. Deploy AI predictive landing models into commercial bidding to offer dynamic pricing.</a:t>
            </a:r>
          </a:p>
          <a:p>
            <a:pPr>
              <a:spcAft>
                <a:spcPts val="800"/>
              </a:spcAft>
              <a:defRPr sz="1300">
                <a:solidFill>
                  <a:srgbClr val="222222"/>
                </a:solidFill>
              </a:defRPr>
            </a:pPr>
            <a:r>
              <a:t>  2. Enhance sensor telemetry collection during high-altitude atmospheric reentry to boost ML accuracy beyond 90%.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0F62FE"/>
                </a:solidFill>
              </a:defRPr>
            </a:pPr>
            <a:r>
              <a:t>Appendix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1300">
                <a:solidFill>
                  <a:srgbClr val="222222"/>
                </a:solidFill>
              </a:defRPr>
            </a:pPr>
            <a:r>
              <a:t>• Dataset &amp; Source Links:</a:t>
            </a:r>
          </a:p>
          <a:p>
            <a:pPr>
              <a:spcAft>
                <a:spcPts val="800"/>
              </a:spcAft>
              <a:defRPr sz="1300">
                <a:solidFill>
                  <a:srgbClr val="222222"/>
                </a:solidFill>
              </a:defRPr>
            </a:pPr>
            <a:r>
              <a:t>  - SpaceX REST API &amp; Wikipedia Launch Records</a:t>
            </a:r>
          </a:p>
          <a:p>
            <a:pPr>
              <a:spcAft>
                <a:spcPts val="800"/>
              </a:spcAft>
              <a:defRPr sz="1300">
                <a:solidFill>
                  <a:srgbClr val="222222"/>
                </a:solidFill>
              </a:defRPr>
            </a:pPr>
            <a:r>
              <a:t>  - GitHub Repository: github.com/username/spacex-launch-prediction</a:t>
            </a:r>
          </a:p>
          <a:p>
            <a:pPr>
              <a:spcAft>
                <a:spcPts val="800"/>
              </a:spcAft>
              <a:defRPr sz="1300">
                <a:solidFill>
                  <a:srgbClr val="222222"/>
                </a:solidFill>
              </a:defRPr>
            </a:pPr>
            <a:r>
              <a:t>• Tools &amp; Frameworks: Python, Pandas, SQLite, Seaborn, Folium, Plotly Dash, Scikit-Learn (GridSearchCV).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